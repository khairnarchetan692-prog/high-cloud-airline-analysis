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80" r:id="rId3"/>
    <p:sldId id="262" r:id="rId4"/>
    <p:sldId id="263" r:id="rId5"/>
    <p:sldId id="264" r:id="rId6"/>
    <p:sldId id="266" r:id="rId7"/>
    <p:sldId id="265" r:id="rId8"/>
    <p:sldId id="267" r:id="rId9"/>
    <p:sldId id="268" r:id="rId10"/>
    <p:sldId id="269" r:id="rId11"/>
    <p:sldId id="276" r:id="rId12"/>
    <p:sldId id="277" r:id="rId13"/>
    <p:sldId id="278" r:id="rId14"/>
    <p:sldId id="271" r:id="rId15"/>
    <p:sldId id="270" r:id="rId16"/>
    <p:sldId id="274" r:id="rId17"/>
    <p:sldId id="279" r:id="rId18"/>
    <p:sldId id="273"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426461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955384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318795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224105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140300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3838085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687974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2180586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1247710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2572464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C9EE3C0-642A-4D67-BA42-F8E1277B3D64}" type="datetimeFigureOut">
              <a:rPr lang="en-IN" smtClean="0"/>
              <a:t>02-02-2026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993FCE8-5897-4F41-90C1-C84F80CAC1A4}" type="slidenum">
              <a:rPr lang="en-IN" smtClean="0"/>
              <a:t>‹#›</a:t>
            </a:fld>
            <a:endParaRPr lang="en-IN" dirty="0"/>
          </a:p>
        </p:txBody>
      </p:sp>
    </p:spTree>
    <p:extLst>
      <p:ext uri="{BB962C8B-B14F-4D97-AF65-F5344CB8AC3E}">
        <p14:creationId xmlns:p14="http://schemas.microsoft.com/office/powerpoint/2010/main" val="2584852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9EE3C0-642A-4D67-BA42-F8E1277B3D64}" type="datetimeFigureOut">
              <a:rPr lang="en-IN" smtClean="0"/>
              <a:t>02-02-2026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93FCE8-5897-4F41-90C1-C84F80CAC1A4}" type="slidenum">
              <a:rPr lang="en-IN" smtClean="0"/>
              <a:t>‹#›</a:t>
            </a:fld>
            <a:endParaRPr lang="en-IN" dirty="0"/>
          </a:p>
        </p:txBody>
      </p:sp>
    </p:spTree>
    <p:extLst>
      <p:ext uri="{BB962C8B-B14F-4D97-AF65-F5344CB8AC3E}">
        <p14:creationId xmlns:p14="http://schemas.microsoft.com/office/powerpoint/2010/main" val="2592170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itle 1"/>
          <p:cNvSpPr>
            <a:spLocks noGrp="1"/>
          </p:cNvSpPr>
          <p:nvPr>
            <p:ph type="ctrTitle"/>
          </p:nvPr>
        </p:nvSpPr>
        <p:spPr>
          <a:xfrm>
            <a:off x="314326" y="1857375"/>
            <a:ext cx="11524978" cy="3057524"/>
          </a:xfrm>
        </p:spPr>
        <p:txBody>
          <a:bodyPr>
            <a:noAutofit/>
          </a:bodyPr>
          <a:lstStyle/>
          <a:p>
            <a:r>
              <a:rPr lang="en-US" sz="16600" u="sng" dirty="0" smtClean="0">
                <a:latin typeface="Algerian" panose="04020705040A02060702" pitchFamily="82" charset="0"/>
              </a:rPr>
              <a:t>WELCOME</a:t>
            </a:r>
            <a:endParaRPr lang="en-IN" sz="11500" u="sng" dirty="0">
              <a:latin typeface="Algerian" panose="04020705040A02060702" pitchFamily="82" charset="0"/>
            </a:endParaRPr>
          </a:p>
        </p:txBody>
      </p:sp>
    </p:spTree>
    <p:extLst>
      <p:ext uri="{BB962C8B-B14F-4D97-AF65-F5344CB8AC3E}">
        <p14:creationId xmlns:p14="http://schemas.microsoft.com/office/powerpoint/2010/main" val="4753886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itle 1"/>
          <p:cNvSpPr>
            <a:spLocks noGrp="1"/>
          </p:cNvSpPr>
          <p:nvPr>
            <p:ph type="ctrTitle"/>
          </p:nvPr>
        </p:nvSpPr>
        <p:spPr>
          <a:xfrm>
            <a:off x="323851" y="1247775"/>
            <a:ext cx="11524978" cy="3057524"/>
          </a:xfrm>
        </p:spPr>
        <p:txBody>
          <a:bodyPr>
            <a:noAutofit/>
          </a:bodyPr>
          <a:lstStyle/>
          <a:p>
            <a:r>
              <a:rPr lang="en-US" sz="9600" dirty="0" smtClean="0">
                <a:latin typeface="Algerian" panose="04020705040A02060702" pitchFamily="82" charset="0"/>
              </a:rPr>
              <a:t>HIGH CLOUD </a:t>
            </a:r>
            <a:br>
              <a:rPr lang="en-US" sz="9600" dirty="0" smtClean="0">
                <a:latin typeface="Algerian" panose="04020705040A02060702" pitchFamily="82" charset="0"/>
              </a:rPr>
            </a:br>
            <a:r>
              <a:rPr lang="en-US" sz="9600" dirty="0" smtClean="0">
                <a:latin typeface="Algerian" panose="04020705040A02060702" pitchFamily="82" charset="0"/>
              </a:rPr>
              <a:t>AIRLINES</a:t>
            </a:r>
            <a:endParaRPr lang="en-IN" sz="9600" dirty="0">
              <a:latin typeface="Algerian" panose="04020705040A02060702" pitchFamily="82" charset="0"/>
            </a:endParaRPr>
          </a:p>
        </p:txBody>
      </p:sp>
      <p:sp>
        <p:nvSpPr>
          <p:cNvPr id="4" name="TextBox 3"/>
          <p:cNvSpPr txBox="1"/>
          <p:nvPr/>
        </p:nvSpPr>
        <p:spPr>
          <a:xfrm>
            <a:off x="8372475" y="4486958"/>
            <a:ext cx="3038475" cy="646331"/>
          </a:xfrm>
          <a:prstGeom prst="rect">
            <a:avLst/>
          </a:prstGeom>
          <a:noFill/>
        </p:spPr>
        <p:txBody>
          <a:bodyPr wrap="square" rtlCol="0">
            <a:spAutoFit/>
          </a:bodyPr>
          <a:lstStyle/>
          <a:p>
            <a:r>
              <a:rPr lang="en-US" sz="3600" dirty="0" smtClean="0">
                <a:latin typeface="Algerian" panose="04020705040A02060702" pitchFamily="82" charset="0"/>
              </a:rPr>
              <a:t>GROUP NO. 1</a:t>
            </a:r>
            <a:endParaRPr lang="en-IN" sz="3600" dirty="0">
              <a:latin typeface="Algerian" panose="04020705040A02060702" pitchFamily="82" charset="0"/>
            </a:endParaRPr>
          </a:p>
        </p:txBody>
      </p:sp>
    </p:spTree>
    <p:extLst>
      <p:ext uri="{BB962C8B-B14F-4D97-AF65-F5344CB8AC3E}">
        <p14:creationId xmlns:p14="http://schemas.microsoft.com/office/powerpoint/2010/main" val="13439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6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86624" y="4305299"/>
            <a:ext cx="4924426" cy="952501"/>
          </a:xfrm>
          <a:prstGeom prst="rect">
            <a:avLst/>
          </a:prstGeom>
        </p:spPr>
      </p:pic>
      <p:sp>
        <p:nvSpPr>
          <p:cNvPr id="6" name="Title 1"/>
          <p:cNvSpPr>
            <a:spLocks noGrp="1"/>
          </p:cNvSpPr>
          <p:nvPr>
            <p:ph type="ctrTitle"/>
          </p:nvPr>
        </p:nvSpPr>
        <p:spPr>
          <a:xfrm>
            <a:off x="2181224" y="200025"/>
            <a:ext cx="8553179" cy="933450"/>
          </a:xfrm>
          <a:solidFill>
            <a:schemeClr val="bg1">
              <a:alpha val="50000"/>
            </a:schemeClr>
          </a:solidFill>
          <a:ln>
            <a:solidFill>
              <a:schemeClr val="tx2"/>
            </a:solidFill>
          </a:ln>
          <a:effectLst>
            <a:innerShdw blurRad="114300">
              <a:prstClr val="black"/>
            </a:innerShdw>
            <a:reflection blurRad="6350" stA="52000" endA="300" endPos="35000" dir="5400000" sy="-100000" algn="bl" rotWithShape="0"/>
          </a:effectLst>
          <a:scene3d>
            <a:camera prst="orthographicFront"/>
            <a:lightRig rig="threePt" dir="t"/>
          </a:scene3d>
          <a:sp3d>
            <a:bevelT/>
          </a:sp3d>
        </p:spPr>
        <p:style>
          <a:lnRef idx="2">
            <a:schemeClr val="accent6"/>
          </a:lnRef>
          <a:fillRef idx="1">
            <a:schemeClr val="lt1"/>
          </a:fillRef>
          <a:effectRef idx="0">
            <a:schemeClr val="accent6"/>
          </a:effectRef>
          <a:fontRef idx="minor">
            <a:schemeClr val="dk1"/>
          </a:fontRef>
        </p:style>
        <p:txBody>
          <a:bodyPr>
            <a:noAutofit/>
          </a:bodyPr>
          <a:lstStyle/>
          <a:p>
            <a:r>
              <a:rPr lang="en-US" sz="5400" u="sng" dirty="0" smtClean="0">
                <a:latin typeface="Algerian" panose="04020705040A02060702" pitchFamily="82" charset="0"/>
              </a:rPr>
              <a:t>GROUP MEMBERS DETAILS</a:t>
            </a:r>
            <a:endParaRPr lang="en-IN" sz="5400" u="sng" dirty="0">
              <a:latin typeface="Algerian" panose="04020705040A02060702" pitchFamily="82" charset="0"/>
            </a:endParaRPr>
          </a:p>
        </p:txBody>
      </p:sp>
      <p:sp>
        <p:nvSpPr>
          <p:cNvPr id="7" name="Pentagon 6"/>
          <p:cNvSpPr/>
          <p:nvPr/>
        </p:nvSpPr>
        <p:spPr>
          <a:xfrm>
            <a:off x="3666988" y="1362359"/>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Mantha VijayKumar</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8" name="Pentagon 7"/>
          <p:cNvSpPr/>
          <p:nvPr/>
        </p:nvSpPr>
        <p:spPr>
          <a:xfrm>
            <a:off x="3666988" y="2089521"/>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Shaik Tanveer Ahamad</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9" name="Pentagon 8"/>
          <p:cNvSpPr/>
          <p:nvPr/>
        </p:nvSpPr>
        <p:spPr>
          <a:xfrm>
            <a:off x="3666988" y="5082204"/>
            <a:ext cx="4181612" cy="798266"/>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Punganuru Rajeshbabu Krishnavardhan Babu</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10" name="Pentagon 9"/>
          <p:cNvSpPr/>
          <p:nvPr/>
        </p:nvSpPr>
        <p:spPr>
          <a:xfrm>
            <a:off x="3666988" y="3585542"/>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Chaitan Raju khairnar</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11" name="Pentagon 10"/>
          <p:cNvSpPr/>
          <p:nvPr/>
        </p:nvSpPr>
        <p:spPr>
          <a:xfrm>
            <a:off x="3666988" y="4333873"/>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Ratnadip Anil zagade</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12" name="Pentagon 11"/>
          <p:cNvSpPr/>
          <p:nvPr/>
        </p:nvSpPr>
        <p:spPr>
          <a:xfrm>
            <a:off x="3666988" y="2805696"/>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Ankitha</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13" name="Pentagon 12"/>
          <p:cNvSpPr/>
          <p:nvPr/>
        </p:nvSpPr>
        <p:spPr>
          <a:xfrm>
            <a:off x="3666988" y="5977557"/>
            <a:ext cx="4181612" cy="619125"/>
          </a:xfrm>
          <a:prstGeom prst="homePlate">
            <a:avLst/>
          </a:prstGeom>
          <a:solidFill>
            <a:schemeClr val="bg1">
              <a:alpha val="50000"/>
            </a:schemeClr>
          </a:solidFill>
          <a:ln>
            <a:solidFill>
              <a:schemeClr val="tx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chemeClr val="tx1"/>
                </a:solidFill>
                <a:latin typeface="Times New Roman" panose="02020603050405020304" pitchFamily="18" charset="0"/>
                <a:cs typeface="Times New Roman" panose="02020603050405020304" pitchFamily="18" charset="0"/>
              </a:rPr>
              <a:t>Prajwal Mothilal Khandare</a:t>
            </a:r>
            <a:endParaRPr lang="en-IN"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7765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8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1990725" y="198537"/>
            <a:ext cx="8753475" cy="523220"/>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r>
              <a:rPr lang="en-US" sz="2800" b="1" dirty="0" smtClean="0">
                <a:latin typeface="Algerian" panose="04020705040A02060702" pitchFamily="82" charset="0"/>
              </a:rPr>
              <a:t>INTRODUCTION TO HIGH CLOUD AIRLINES</a:t>
            </a:r>
            <a:endParaRPr lang="en-IN" sz="2800" b="1" dirty="0">
              <a:latin typeface="Algerian" panose="04020705040A02060702" pitchFamily="82" charset="0"/>
            </a:endParaRPr>
          </a:p>
        </p:txBody>
      </p:sp>
      <p:sp>
        <p:nvSpPr>
          <p:cNvPr id="6" name="TextBox 5"/>
          <p:cNvSpPr txBox="1"/>
          <p:nvPr/>
        </p:nvSpPr>
        <p:spPr>
          <a:xfrm>
            <a:off x="762000" y="1102757"/>
            <a:ext cx="10801350" cy="5493812"/>
          </a:xfrm>
          <a:prstGeom prst="rect">
            <a:avLst/>
          </a:prstGeom>
          <a:solidFill>
            <a:schemeClr val="bg1">
              <a:alpha val="61000"/>
            </a:schemeClr>
          </a:solidFill>
          <a:ln>
            <a:solidFill>
              <a:schemeClr val="bg1"/>
            </a:solidFill>
          </a:ln>
          <a:scene3d>
            <a:camera prst="orthographicFront"/>
            <a:lightRig rig="threePt" dir="t"/>
          </a:scene3d>
          <a:sp3d>
            <a:bevelT/>
          </a:sp3d>
        </p:spPr>
        <p:txBody>
          <a:bodyPr wrap="square" rtlCol="0">
            <a:spAutoFit/>
          </a:bodyPr>
          <a:lstStyle/>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High Cloud Airlines Project</a:t>
            </a:r>
            <a:r>
              <a:rPr lang="en-US" dirty="0" smtClean="0">
                <a:latin typeface="Times New Roman" panose="02020603050405020304" pitchFamily="18" charset="0"/>
                <a:cs typeface="Times New Roman" panose="02020603050405020304" pitchFamily="18" charset="0"/>
              </a:rPr>
              <a:t> is a data analytics and visualization project designed to analyze and understand the operational performance of an airline using historical flight data. The main goal of this project is to transform large volumes of raw airline data into </a:t>
            </a:r>
            <a:r>
              <a:rPr lang="en-US" b="1" dirty="0" smtClean="0">
                <a:latin typeface="Times New Roman" panose="02020603050405020304" pitchFamily="18" charset="0"/>
                <a:cs typeface="Times New Roman" panose="02020603050405020304" pitchFamily="18" charset="0"/>
              </a:rPr>
              <a:t>meaningful insights</a:t>
            </a:r>
            <a:r>
              <a:rPr lang="en-US" dirty="0" smtClean="0">
                <a:latin typeface="Times New Roman" panose="02020603050405020304" pitchFamily="18" charset="0"/>
                <a:cs typeface="Times New Roman" panose="02020603050405020304" pitchFamily="18" charset="0"/>
              </a:rPr>
              <a:t> that help in better decision-making.</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this project, </a:t>
            </a:r>
            <a:r>
              <a:rPr lang="en-US" b="1" dirty="0" smtClean="0">
                <a:latin typeface="Times New Roman" panose="02020603050405020304" pitchFamily="18" charset="0"/>
                <a:cs typeface="Times New Roman" panose="02020603050405020304" pitchFamily="18" charset="0"/>
              </a:rPr>
              <a:t>Excel, Tableau, Power BI</a:t>
            </a:r>
            <a:r>
              <a:rPr lang="en-US" dirty="0" smtClean="0">
                <a:latin typeface="Times New Roman" panose="02020603050405020304" pitchFamily="18" charset="0"/>
                <a:cs typeface="Times New Roman" panose="02020603050405020304" pitchFamily="18" charset="0"/>
              </a:rPr>
              <a:t> is used as the primary tool to create an </a:t>
            </a:r>
            <a:r>
              <a:rPr lang="en-US" b="1" dirty="0" smtClean="0">
                <a:latin typeface="Times New Roman" panose="02020603050405020304" pitchFamily="18" charset="0"/>
                <a:cs typeface="Times New Roman" panose="02020603050405020304" pitchFamily="18" charset="0"/>
              </a:rPr>
              <a:t>interactive and visually appealing dashboard</a:t>
            </a:r>
            <a:r>
              <a:rPr lang="en-US" dirty="0" smtClean="0">
                <a:latin typeface="Times New Roman" panose="02020603050405020304" pitchFamily="18" charset="0"/>
                <a:cs typeface="Times New Roman" panose="02020603050405020304" pitchFamily="18" charset="0"/>
              </a:rPr>
              <a:t>. The dashboard focuses on key airline performance indicators such as </a:t>
            </a:r>
            <a:r>
              <a:rPr lang="en-US" b="1" dirty="0" smtClean="0">
                <a:latin typeface="Times New Roman" panose="02020603050405020304" pitchFamily="18" charset="0"/>
                <a:cs typeface="Times New Roman" panose="02020603050405020304" pitchFamily="18" charset="0"/>
              </a:rPr>
              <a:t>Total Flights, Total Passengers, Load Factor Percentage, and Total Available Seats</a:t>
            </a:r>
            <a:r>
              <a:rPr lang="en-US" dirty="0" smtClean="0">
                <a:latin typeface="Times New Roman" panose="02020603050405020304" pitchFamily="18" charset="0"/>
                <a:cs typeface="Times New Roman" panose="02020603050405020304" pitchFamily="18" charset="0"/>
              </a:rPr>
              <a:t>, analyzed across </a:t>
            </a:r>
            <a:r>
              <a:rPr lang="en-US" b="1" dirty="0" smtClean="0">
                <a:latin typeface="Times New Roman" panose="02020603050405020304" pitchFamily="18" charset="0"/>
                <a:cs typeface="Times New Roman" panose="02020603050405020304" pitchFamily="18" charset="0"/>
              </a:rPr>
              <a:t>financial quarters</a:t>
            </a:r>
            <a:r>
              <a:rPr lang="en-US"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Airline operations are highly influenced by </a:t>
            </a:r>
            <a:r>
              <a:rPr lang="en-US" b="1" dirty="0" smtClean="0">
                <a:latin typeface="Times New Roman" panose="02020603050405020304" pitchFamily="18" charset="0"/>
                <a:cs typeface="Times New Roman" panose="02020603050405020304" pitchFamily="18" charset="0"/>
              </a:rPr>
              <a:t>seasonality, passenger demand, and capacity utilization</a:t>
            </a:r>
            <a:r>
              <a:rPr lang="en-US" dirty="0" smtClean="0">
                <a:latin typeface="Times New Roman" panose="02020603050405020304" pitchFamily="18" charset="0"/>
                <a:cs typeface="Times New Roman" panose="02020603050405020304" pitchFamily="18" charset="0"/>
              </a:rPr>
              <a:t>. By analyzing data on a quarterly basis, this project helps identify </a:t>
            </a:r>
            <a:r>
              <a:rPr lang="en-US" b="1" dirty="0" smtClean="0">
                <a:latin typeface="Times New Roman" panose="02020603050405020304" pitchFamily="18" charset="0"/>
                <a:cs typeface="Times New Roman" panose="02020603050405020304" pitchFamily="18" charset="0"/>
              </a:rPr>
              <a:t>travel trends, peak seasons, and operational efficiency</a:t>
            </a:r>
            <a:r>
              <a:rPr lang="en-US"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This project also demonstrates the importance of </a:t>
            </a:r>
            <a:r>
              <a:rPr lang="en-US" b="1" dirty="0" smtClean="0">
                <a:latin typeface="Times New Roman" panose="02020603050405020304" pitchFamily="18" charset="0"/>
                <a:cs typeface="Times New Roman" panose="02020603050405020304" pitchFamily="18" charset="0"/>
              </a:rPr>
              <a:t>data modeling, time intelligence, KPI calculation, and visualization techniques</a:t>
            </a:r>
            <a:r>
              <a:rPr lang="en-US" dirty="0" smtClean="0">
                <a:latin typeface="Times New Roman" panose="02020603050405020304" pitchFamily="18" charset="0"/>
                <a:cs typeface="Times New Roman" panose="02020603050405020304" pitchFamily="18" charset="0"/>
              </a:rPr>
              <a:t> in real-world business scenarios.</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final dashboard is designed to be </a:t>
            </a:r>
            <a:r>
              <a:rPr lang="en-US" b="1" dirty="0" smtClean="0">
                <a:latin typeface="Times New Roman" panose="02020603050405020304" pitchFamily="18" charset="0"/>
                <a:cs typeface="Times New Roman" panose="02020603050405020304" pitchFamily="18" charset="0"/>
              </a:rPr>
              <a:t>user-friendly, accurate, and decision-oriented</a:t>
            </a:r>
            <a:r>
              <a:rPr lang="en-US" dirty="0" smtClean="0">
                <a:latin typeface="Times New Roman" panose="02020603050405020304" pitchFamily="18" charset="0"/>
                <a:cs typeface="Times New Roman" panose="02020603050405020304" pitchFamily="18" charset="0"/>
              </a:rPr>
              <a:t>, making it useful for airline management, analysts, and stakeholders.</a:t>
            </a:r>
          </a:p>
        </p:txBody>
      </p:sp>
    </p:spTree>
    <p:extLst>
      <p:ext uri="{BB962C8B-B14F-4D97-AF65-F5344CB8AC3E}">
        <p14:creationId xmlns:p14="http://schemas.microsoft.com/office/powerpoint/2010/main" val="29041602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4" name="TextBox 3"/>
          <p:cNvSpPr txBox="1"/>
          <p:nvPr/>
        </p:nvSpPr>
        <p:spPr>
          <a:xfrm>
            <a:off x="2171700" y="208062"/>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EXCEL DASHBOARD</a:t>
            </a:r>
            <a:endParaRPr lang="en-IN" sz="3200" b="1" dirty="0">
              <a:latin typeface="Algerian" panose="04020705040A02060702" pitchFamily="82"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887" y="1162050"/>
            <a:ext cx="10229850" cy="5086350"/>
          </a:xfrm>
          <a:prstGeom prst="rect">
            <a:avLst/>
          </a:prstGeom>
        </p:spPr>
      </p:pic>
    </p:spTree>
    <p:extLst>
      <p:ext uri="{BB962C8B-B14F-4D97-AF65-F5344CB8AC3E}">
        <p14:creationId xmlns:p14="http://schemas.microsoft.com/office/powerpoint/2010/main" val="2021586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1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4" name="TextBox 3"/>
          <p:cNvSpPr txBox="1"/>
          <p:nvPr/>
        </p:nvSpPr>
        <p:spPr>
          <a:xfrm>
            <a:off x="2171700" y="208062"/>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POWER_BI DASHBOARD</a:t>
            </a:r>
            <a:endParaRPr lang="en-IN" sz="3200" b="1" dirty="0">
              <a:latin typeface="Algerian" panose="04020705040A02060702" pitchFamily="82"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625" y="1162050"/>
            <a:ext cx="10610850" cy="5305425"/>
          </a:xfrm>
          <a:prstGeom prst="rect">
            <a:avLst/>
          </a:prstGeom>
        </p:spPr>
      </p:pic>
    </p:spTree>
    <p:extLst>
      <p:ext uri="{BB962C8B-B14F-4D97-AF65-F5344CB8AC3E}">
        <p14:creationId xmlns:p14="http://schemas.microsoft.com/office/powerpoint/2010/main" val="24084375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171700" y="208062"/>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TABLEAU DASHBOARD</a:t>
            </a:r>
            <a:endParaRPr lang="en-IN" sz="3200" b="1" dirty="0">
              <a:latin typeface="Algerian" panose="04020705040A02060702" pitchFamily="82"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525" y="1266825"/>
            <a:ext cx="10553700" cy="5133976"/>
          </a:xfrm>
          <a:prstGeom prst="rect">
            <a:avLst/>
          </a:prstGeom>
        </p:spPr>
      </p:pic>
    </p:spTree>
    <p:extLst>
      <p:ext uri="{BB962C8B-B14F-4D97-AF65-F5344CB8AC3E}">
        <p14:creationId xmlns:p14="http://schemas.microsoft.com/office/powerpoint/2010/main" val="8748516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3" y="176349"/>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4" name="Picture 3"/>
          <p:cNvPicPr>
            <a:picLocks noChangeAspect="1"/>
          </p:cNvPicPr>
          <p:nvPr/>
        </p:nvPicPr>
        <p:blipFill rotWithShape="1">
          <a:blip r:embed="rId3"/>
          <a:srcRect b="69426"/>
          <a:stretch/>
        </p:blipFill>
        <p:spPr>
          <a:xfrm>
            <a:off x="710855" y="828488"/>
            <a:ext cx="10875064" cy="826141"/>
          </a:xfrm>
          <a:prstGeom prst="rect">
            <a:avLst/>
          </a:prstGeom>
        </p:spPr>
      </p:pic>
      <p:pic>
        <p:nvPicPr>
          <p:cNvPr id="5" name="Picture 4"/>
          <p:cNvPicPr>
            <a:picLocks noChangeAspect="1"/>
          </p:cNvPicPr>
          <p:nvPr/>
        </p:nvPicPr>
        <p:blipFill rotWithShape="1">
          <a:blip r:embed="rId4"/>
          <a:srcRect t="7892"/>
          <a:stretch/>
        </p:blipFill>
        <p:spPr>
          <a:xfrm>
            <a:off x="710854" y="1654629"/>
            <a:ext cx="10875065" cy="5081451"/>
          </a:xfrm>
          <a:prstGeom prst="rect">
            <a:avLst/>
          </a:prstGeom>
        </p:spPr>
      </p:pic>
    </p:spTree>
    <p:extLst>
      <p:ext uri="{BB962C8B-B14F-4D97-AF65-F5344CB8AC3E}">
        <p14:creationId xmlns:p14="http://schemas.microsoft.com/office/powerpoint/2010/main" val="2417877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5" name="Picture 4"/>
          <p:cNvPicPr>
            <a:picLocks noChangeAspect="1"/>
          </p:cNvPicPr>
          <p:nvPr/>
        </p:nvPicPr>
        <p:blipFill>
          <a:blip r:embed="rId3"/>
          <a:stretch>
            <a:fillRect/>
          </a:stretch>
        </p:blipFill>
        <p:spPr>
          <a:xfrm>
            <a:off x="608771" y="975360"/>
            <a:ext cx="10974457" cy="5677989"/>
          </a:xfrm>
          <a:prstGeom prst="rect">
            <a:avLst/>
          </a:prstGeom>
        </p:spPr>
      </p:pic>
    </p:spTree>
    <p:extLst>
      <p:ext uri="{BB962C8B-B14F-4D97-AF65-F5344CB8AC3E}">
        <p14:creationId xmlns:p14="http://schemas.microsoft.com/office/powerpoint/2010/main" val="21064242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4" name="Picture 3"/>
          <p:cNvPicPr>
            <a:picLocks noChangeAspect="1"/>
          </p:cNvPicPr>
          <p:nvPr/>
        </p:nvPicPr>
        <p:blipFill>
          <a:blip r:embed="rId3"/>
          <a:stretch>
            <a:fillRect/>
          </a:stretch>
        </p:blipFill>
        <p:spPr>
          <a:xfrm>
            <a:off x="389594" y="931816"/>
            <a:ext cx="11412811" cy="5704115"/>
          </a:xfrm>
          <a:prstGeom prst="rect">
            <a:avLst/>
          </a:prstGeom>
        </p:spPr>
      </p:pic>
    </p:spTree>
    <p:extLst>
      <p:ext uri="{BB962C8B-B14F-4D97-AF65-F5344CB8AC3E}">
        <p14:creationId xmlns:p14="http://schemas.microsoft.com/office/powerpoint/2010/main" val="3491160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4" name="Picture 3"/>
          <p:cNvPicPr>
            <a:picLocks noChangeAspect="1"/>
          </p:cNvPicPr>
          <p:nvPr/>
        </p:nvPicPr>
        <p:blipFill>
          <a:blip r:embed="rId3"/>
          <a:stretch>
            <a:fillRect/>
          </a:stretch>
        </p:blipFill>
        <p:spPr>
          <a:xfrm>
            <a:off x="412433" y="923109"/>
            <a:ext cx="11367134" cy="5686698"/>
          </a:xfrm>
          <a:prstGeom prst="rect">
            <a:avLst/>
          </a:prstGeom>
        </p:spPr>
      </p:pic>
    </p:spTree>
    <p:extLst>
      <p:ext uri="{BB962C8B-B14F-4D97-AF65-F5344CB8AC3E}">
        <p14:creationId xmlns:p14="http://schemas.microsoft.com/office/powerpoint/2010/main" val="1187440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4" name="Picture 3"/>
          <p:cNvPicPr>
            <a:picLocks noChangeAspect="1"/>
          </p:cNvPicPr>
          <p:nvPr/>
        </p:nvPicPr>
        <p:blipFill>
          <a:blip r:embed="rId3"/>
          <a:stretch>
            <a:fillRect/>
          </a:stretch>
        </p:blipFill>
        <p:spPr>
          <a:xfrm>
            <a:off x="637591" y="940526"/>
            <a:ext cx="10916817" cy="5756365"/>
          </a:xfrm>
          <a:prstGeom prst="rect">
            <a:avLst/>
          </a:prstGeom>
        </p:spPr>
      </p:pic>
    </p:spTree>
    <p:extLst>
      <p:ext uri="{BB962C8B-B14F-4D97-AF65-F5344CB8AC3E}">
        <p14:creationId xmlns:p14="http://schemas.microsoft.com/office/powerpoint/2010/main" val="30467722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MY SQL QUERY</a:t>
            </a:r>
            <a:endParaRPr lang="en-IN" sz="3200" b="1" dirty="0">
              <a:latin typeface="Algerian" panose="04020705040A02060702" pitchFamily="82" charset="0"/>
            </a:endParaRPr>
          </a:p>
        </p:txBody>
      </p:sp>
      <p:pic>
        <p:nvPicPr>
          <p:cNvPr id="4" name="Picture 3"/>
          <p:cNvPicPr>
            <a:picLocks noChangeAspect="1"/>
          </p:cNvPicPr>
          <p:nvPr/>
        </p:nvPicPr>
        <p:blipFill>
          <a:blip r:embed="rId3"/>
          <a:stretch>
            <a:fillRect/>
          </a:stretch>
        </p:blipFill>
        <p:spPr>
          <a:xfrm>
            <a:off x="540099" y="949234"/>
            <a:ext cx="11111802" cy="5634446"/>
          </a:xfrm>
          <a:prstGeom prst="rect">
            <a:avLst/>
          </a:prstGeom>
        </p:spPr>
      </p:pic>
    </p:spTree>
    <p:extLst>
      <p:ext uri="{BB962C8B-B14F-4D97-AF65-F5344CB8AC3E}">
        <p14:creationId xmlns:p14="http://schemas.microsoft.com/office/powerpoint/2010/main" val="15602187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8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4268390" y="191362"/>
            <a:ext cx="4248151"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KPI </a:t>
            </a:r>
            <a:endParaRPr lang="en-IN" sz="3200" b="1" dirty="0">
              <a:latin typeface="Algerian" panose="04020705040A02060702" pitchFamily="82" charset="0"/>
            </a:endParaRPr>
          </a:p>
        </p:txBody>
      </p:sp>
      <p:sp>
        <p:nvSpPr>
          <p:cNvPr id="10" name="Oval 9"/>
          <p:cNvSpPr/>
          <p:nvPr/>
        </p:nvSpPr>
        <p:spPr>
          <a:xfrm>
            <a:off x="4471985" y="1462234"/>
            <a:ext cx="3471863" cy="2720400"/>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smtClean="0">
                <a:solidFill>
                  <a:schemeClr val="tx1"/>
                </a:solidFill>
                <a:latin typeface="Times New Roman" panose="02020603050405020304" pitchFamily="18" charset="0"/>
                <a:cs typeface="Times New Roman" panose="02020603050405020304" pitchFamily="18" charset="0"/>
              </a:rPr>
              <a:t>calcuate the following fields from the YearMonth (#) Day  fields ( First Create a Date Field from Year , Month , Day field</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1" name="Oval 20"/>
          <p:cNvSpPr/>
          <p:nvPr/>
        </p:nvSpPr>
        <p:spPr>
          <a:xfrm>
            <a:off x="8415337" y="865321"/>
            <a:ext cx="3557586" cy="2337385"/>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 Find the load Factor percentage on a yearly , Quarterly , Monthly basis ( Transported passengers / Available seats)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2" name="Oval 21"/>
          <p:cNvSpPr/>
          <p:nvPr/>
        </p:nvSpPr>
        <p:spPr>
          <a:xfrm>
            <a:off x="2668174" y="4781549"/>
            <a:ext cx="3292092" cy="1990725"/>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 Identify the how much load factor is occupied on Weekend vs Weekdays.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3" name="Oval 22"/>
          <p:cNvSpPr/>
          <p:nvPr/>
        </p:nvSpPr>
        <p:spPr>
          <a:xfrm>
            <a:off x="6140639" y="4781548"/>
            <a:ext cx="2914055" cy="1990725"/>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Identify number of flights based on Distance group</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4" name="Oval 23"/>
          <p:cNvSpPr/>
          <p:nvPr/>
        </p:nvSpPr>
        <p:spPr>
          <a:xfrm>
            <a:off x="8415337" y="3340532"/>
            <a:ext cx="3471863" cy="1917268"/>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Identify Top 10 Carrier Names based passengers preference </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5" name="Oval 24"/>
          <p:cNvSpPr/>
          <p:nvPr/>
        </p:nvSpPr>
        <p:spPr>
          <a:xfrm>
            <a:off x="247650" y="3340532"/>
            <a:ext cx="3386136" cy="1917268"/>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Display top Routes  (from-to City) based on Number of Flights </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6" name="Oval 25"/>
          <p:cNvSpPr/>
          <p:nvPr/>
        </p:nvSpPr>
        <p:spPr>
          <a:xfrm>
            <a:off x="64295" y="865322"/>
            <a:ext cx="3752846" cy="2337385"/>
          </a:xfrm>
          <a:prstGeom prst="ellipse">
            <a:avLst/>
          </a:prstGeom>
          <a:solidFill>
            <a:schemeClr val="bg1">
              <a:alpha val="50000"/>
            </a:schemeClr>
          </a:solidFill>
          <a:ln>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Times New Roman" panose="02020603050405020304" pitchFamily="18" charset="0"/>
                <a:cs typeface="Times New Roman" panose="02020603050405020304" pitchFamily="18" charset="0"/>
              </a:rPr>
              <a:t>Find the load Factor percentage on a Carrier Name basis (Transported passengers / Available seats)</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8129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1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KEY CHALLENGES</a:t>
            </a:r>
            <a:endParaRPr lang="en-IN" sz="3200" b="1" dirty="0">
              <a:latin typeface="Algerian" panose="04020705040A02060702" pitchFamily="82" charset="0"/>
            </a:endParaRPr>
          </a:p>
        </p:txBody>
      </p:sp>
      <p:sp>
        <p:nvSpPr>
          <p:cNvPr id="4" name="TextBox 3"/>
          <p:cNvSpPr txBox="1"/>
          <p:nvPr/>
        </p:nvSpPr>
        <p:spPr>
          <a:xfrm>
            <a:off x="2352674" y="1340848"/>
            <a:ext cx="8358867" cy="4708981"/>
          </a:xfrm>
          <a:prstGeom prst="rect">
            <a:avLst/>
          </a:prstGeom>
          <a:noFill/>
        </p:spPr>
        <p:txBody>
          <a:bodyPr wrap="square" rtlCol="0">
            <a:spAutoFit/>
          </a:bodyPr>
          <a:lstStyle/>
          <a:p>
            <a:pPr marL="285750" indent="-285750">
              <a:lnSpc>
                <a:spcPct val="250000"/>
              </a:lnSpc>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Managing </a:t>
            </a:r>
            <a:r>
              <a:rPr lang="en-US" sz="2000" dirty="0">
                <a:latin typeface="Times New Roman" panose="02020603050405020304" pitchFamily="18" charset="0"/>
                <a:cs typeface="Times New Roman" panose="02020603050405020304" pitchFamily="18" charset="0"/>
              </a:rPr>
              <a:t>and cleaning large airline </a:t>
            </a:r>
            <a:r>
              <a:rPr lang="en-US" sz="2000" dirty="0" smtClean="0">
                <a:latin typeface="Times New Roman" panose="02020603050405020304" pitchFamily="18" charset="0"/>
                <a:cs typeface="Times New Roman" panose="02020603050405020304" pitchFamily="18" charset="0"/>
              </a:rPr>
              <a:t>datasets.</a:t>
            </a:r>
          </a:p>
          <a:p>
            <a:pPr marL="285750" indent="-285750">
              <a:lnSpc>
                <a:spcPct val="250000"/>
              </a:lnSpc>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Creating </a:t>
            </a:r>
            <a:r>
              <a:rPr lang="en-US" sz="2000" dirty="0">
                <a:latin typeface="Times New Roman" panose="02020603050405020304" pitchFamily="18" charset="0"/>
                <a:cs typeface="Times New Roman" panose="02020603050405020304" pitchFamily="18" charset="0"/>
              </a:rPr>
              <a:t>accurate </a:t>
            </a:r>
            <a:r>
              <a:rPr lang="en-US" sz="2000" b="1" dirty="0">
                <a:latin typeface="Times New Roman" panose="02020603050405020304" pitchFamily="18" charset="0"/>
                <a:cs typeface="Times New Roman" panose="02020603050405020304" pitchFamily="18" charset="0"/>
              </a:rPr>
              <a:t>financial quarter</a:t>
            </a:r>
            <a:r>
              <a:rPr lang="en-US" sz="2000" dirty="0">
                <a:latin typeface="Times New Roman" panose="02020603050405020304" pitchFamily="18" charset="0"/>
                <a:cs typeface="Times New Roman" panose="02020603050405020304" pitchFamily="18" charset="0"/>
              </a:rPr>
              <a:t> and date-related </a:t>
            </a:r>
            <a:r>
              <a:rPr lang="en-US" sz="2000" dirty="0" smtClean="0">
                <a:latin typeface="Times New Roman" panose="02020603050405020304" pitchFamily="18" charset="0"/>
                <a:cs typeface="Times New Roman" panose="02020603050405020304" pitchFamily="18" charset="0"/>
              </a:rPr>
              <a:t>columns. </a:t>
            </a:r>
          </a:p>
          <a:p>
            <a:pPr marL="285750" indent="-285750">
              <a:lnSpc>
                <a:spcPct val="2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Building correct </a:t>
            </a:r>
            <a:r>
              <a:rPr lang="en-US" sz="2000" b="1" dirty="0">
                <a:latin typeface="Times New Roman" panose="02020603050405020304" pitchFamily="18" charset="0"/>
                <a:cs typeface="Times New Roman" panose="02020603050405020304" pitchFamily="18" charset="0"/>
              </a:rPr>
              <a:t>relationships</a:t>
            </a:r>
            <a:r>
              <a:rPr lang="en-US" sz="2000" dirty="0">
                <a:latin typeface="Times New Roman" panose="02020603050405020304" pitchFamily="18" charset="0"/>
                <a:cs typeface="Times New Roman" panose="02020603050405020304" pitchFamily="18" charset="0"/>
              </a:rPr>
              <a:t> between fact and dimension </a:t>
            </a:r>
            <a:r>
              <a:rPr lang="en-US" sz="2000" dirty="0" smtClean="0">
                <a:latin typeface="Times New Roman" panose="02020603050405020304" pitchFamily="18" charset="0"/>
                <a:cs typeface="Times New Roman" panose="02020603050405020304" pitchFamily="18" charset="0"/>
              </a:rPr>
              <a:t>tables.</a:t>
            </a:r>
          </a:p>
          <a:p>
            <a:pPr marL="285750" indent="-285750">
              <a:lnSpc>
                <a:spcPct val="2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Avoiding </a:t>
            </a:r>
            <a:r>
              <a:rPr lang="en-US" sz="2000" b="1" dirty="0">
                <a:latin typeface="Times New Roman" panose="02020603050405020304" pitchFamily="18" charset="0"/>
                <a:cs typeface="Times New Roman" panose="02020603050405020304" pitchFamily="18" charset="0"/>
              </a:rPr>
              <a:t>circular dependency</a:t>
            </a:r>
            <a:r>
              <a:rPr lang="en-US" sz="2000" dirty="0">
                <a:latin typeface="Times New Roman" panose="02020603050405020304" pitchFamily="18" charset="0"/>
                <a:cs typeface="Times New Roman" panose="02020603050405020304" pitchFamily="18" charset="0"/>
              </a:rPr>
              <a:t> and calculation errors in Power </a:t>
            </a:r>
            <a:r>
              <a:rPr lang="en-US" sz="2000" dirty="0" smtClean="0">
                <a:latin typeface="Times New Roman" panose="02020603050405020304" pitchFamily="18" charset="0"/>
                <a:cs typeface="Times New Roman" panose="02020603050405020304" pitchFamily="18" charset="0"/>
              </a:rPr>
              <a:t>BI.</a:t>
            </a:r>
          </a:p>
          <a:p>
            <a:pPr marL="285750" indent="-285750">
              <a:lnSpc>
                <a:spcPct val="2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Calculating accurate </a:t>
            </a:r>
            <a:r>
              <a:rPr lang="en-US" sz="2000" b="1" dirty="0">
                <a:latin typeface="Times New Roman" panose="02020603050405020304" pitchFamily="18" charset="0"/>
                <a:cs typeface="Times New Roman" panose="02020603050405020304" pitchFamily="18" charset="0"/>
              </a:rPr>
              <a:t>Load Factor %</a:t>
            </a:r>
            <a:r>
              <a:rPr lang="en-US" sz="2000" dirty="0">
                <a:latin typeface="Times New Roman" panose="02020603050405020304" pitchFamily="18" charset="0"/>
                <a:cs typeface="Times New Roman" panose="02020603050405020304" pitchFamily="18" charset="0"/>
              </a:rPr>
              <a:t> without data </a:t>
            </a:r>
            <a:r>
              <a:rPr lang="en-US" sz="2000" dirty="0" smtClean="0">
                <a:latin typeface="Times New Roman" panose="02020603050405020304" pitchFamily="18" charset="0"/>
                <a:cs typeface="Times New Roman" panose="02020603050405020304" pitchFamily="18" charset="0"/>
              </a:rPr>
              <a:t>inconsistency.</a:t>
            </a:r>
          </a:p>
          <a:p>
            <a:pPr marL="285750" indent="-285750">
              <a:lnSpc>
                <a:spcPct val="2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Ensuring proper </a:t>
            </a:r>
            <a:r>
              <a:rPr lang="en-US" sz="2000" b="1" dirty="0">
                <a:latin typeface="Times New Roman" panose="02020603050405020304" pitchFamily="18" charset="0"/>
                <a:cs typeface="Times New Roman" panose="02020603050405020304" pitchFamily="18" charset="0"/>
              </a:rPr>
              <a:t>sorting</a:t>
            </a:r>
            <a:r>
              <a:rPr lang="en-US" sz="2000" dirty="0">
                <a:latin typeface="Times New Roman" panose="02020603050405020304" pitchFamily="18" charset="0"/>
                <a:cs typeface="Times New Roman" panose="02020603050405020304" pitchFamily="18" charset="0"/>
              </a:rPr>
              <a:t> of months and quarters in visuals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8014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8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PROBLEM STATEMENT</a:t>
            </a:r>
            <a:endParaRPr lang="en-IN" sz="3200" b="1" dirty="0">
              <a:latin typeface="Algerian" panose="04020705040A02060702" pitchFamily="82" charset="0"/>
            </a:endParaRPr>
          </a:p>
        </p:txBody>
      </p:sp>
      <p:sp>
        <p:nvSpPr>
          <p:cNvPr id="4" name="Rectangle 3"/>
          <p:cNvSpPr/>
          <p:nvPr/>
        </p:nvSpPr>
        <p:spPr>
          <a:xfrm>
            <a:off x="731520" y="1936042"/>
            <a:ext cx="10694126" cy="2862322"/>
          </a:xfrm>
          <a:prstGeom prst="rect">
            <a:avLst/>
          </a:prstGeom>
        </p:spPr>
        <p:txBody>
          <a:bodyPr wrap="square">
            <a:spAutoFit/>
          </a:bodyPr>
          <a:lstStyle/>
          <a:p>
            <a:pPr>
              <a:lnSpc>
                <a:spcPct val="200000"/>
              </a:lnSpc>
            </a:pPr>
            <a:r>
              <a:rPr lang="en-US" dirty="0">
                <a:latin typeface="Times New Roman" panose="02020603050405020304" pitchFamily="18" charset="0"/>
                <a:cs typeface="Times New Roman" panose="02020603050405020304" pitchFamily="18" charset="0"/>
              </a:rPr>
              <a:t>Airline organizations generate large volumes of operational data related to flights, passengers, and seat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However, this data is often difficult to analyze due to its size and complexity.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There is a need for an </a:t>
            </a:r>
            <a:r>
              <a:rPr lang="en-US" b="1" dirty="0">
                <a:latin typeface="Times New Roman" panose="02020603050405020304" pitchFamily="18" charset="0"/>
                <a:cs typeface="Times New Roman" panose="02020603050405020304" pitchFamily="18" charset="0"/>
              </a:rPr>
              <a:t>interactive and automated dashboard</a:t>
            </a:r>
            <a:r>
              <a:rPr lang="en-US" dirty="0">
                <a:latin typeface="Times New Roman" panose="02020603050405020304" pitchFamily="18" charset="0"/>
                <a:cs typeface="Times New Roman" panose="02020603050405020304" pitchFamily="18" charset="0"/>
              </a:rPr>
              <a:t> that can analyze airline performance across </a:t>
            </a:r>
            <a:r>
              <a:rPr lang="en-US" b="1" dirty="0">
                <a:latin typeface="Times New Roman" panose="02020603050405020304" pitchFamily="18" charset="0"/>
                <a:cs typeface="Times New Roman" panose="02020603050405020304" pitchFamily="18" charset="0"/>
              </a:rPr>
              <a:t>financial quarters</a:t>
            </a:r>
            <a:r>
              <a:rPr lang="en-US" dirty="0">
                <a:latin typeface="Times New Roman" panose="02020603050405020304" pitchFamily="18" charset="0"/>
                <a:cs typeface="Times New Roman" panose="02020603050405020304" pitchFamily="18" charset="0"/>
              </a:rPr>
              <a:t> and provide meaningful insights on </a:t>
            </a:r>
            <a:r>
              <a:rPr lang="en-US" b="1" dirty="0">
                <a:latin typeface="Times New Roman" panose="02020603050405020304" pitchFamily="18" charset="0"/>
                <a:cs typeface="Times New Roman" panose="02020603050405020304" pitchFamily="18" charset="0"/>
              </a:rPr>
              <a:t>passenger demand, flight operations, and load factor efficiency</a:t>
            </a:r>
            <a:r>
              <a:rPr lang="en-US" dirty="0">
                <a:latin typeface="Times New Roman" panose="02020603050405020304" pitchFamily="18" charset="0"/>
                <a:cs typeface="Times New Roman" panose="02020603050405020304" pitchFamily="18" charset="0"/>
              </a:rPr>
              <a:t> to support data-driven decision making.</a:t>
            </a:r>
          </a:p>
        </p:txBody>
      </p:sp>
    </p:spTree>
    <p:extLst>
      <p:ext uri="{BB962C8B-B14F-4D97-AF65-F5344CB8AC3E}">
        <p14:creationId xmlns:p14="http://schemas.microsoft.com/office/powerpoint/2010/main" val="11058130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8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Summary</a:t>
            </a:r>
            <a:endParaRPr lang="en-IN" sz="3200" b="1" dirty="0">
              <a:latin typeface="Algerian" panose="04020705040A02060702" pitchFamily="82" charset="0"/>
            </a:endParaRPr>
          </a:p>
        </p:txBody>
      </p:sp>
      <p:sp>
        <p:nvSpPr>
          <p:cNvPr id="4" name="Rectangle 3"/>
          <p:cNvSpPr/>
          <p:nvPr/>
        </p:nvSpPr>
        <p:spPr>
          <a:xfrm>
            <a:off x="235131" y="1144927"/>
            <a:ext cx="11380605"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High Cloud Airlines Project</a:t>
            </a:r>
            <a:r>
              <a:rPr lang="en-US" dirty="0">
                <a:latin typeface="Times New Roman" panose="02020603050405020304" pitchFamily="18" charset="0"/>
                <a:cs typeface="Times New Roman" panose="02020603050405020304" pitchFamily="18" charset="0"/>
              </a:rPr>
              <a:t> is a comprehensive data analytics initiative developed using </a:t>
            </a:r>
            <a:r>
              <a:rPr lang="en-US" b="1" dirty="0">
                <a:latin typeface="Times New Roman" panose="02020603050405020304" pitchFamily="18" charset="0"/>
                <a:cs typeface="Times New Roman" panose="02020603050405020304" pitchFamily="18" charset="0"/>
              </a:rPr>
              <a:t>Power BI</a:t>
            </a:r>
            <a:r>
              <a:rPr lang="en-US" dirty="0">
                <a:latin typeface="Times New Roman" panose="02020603050405020304" pitchFamily="18" charset="0"/>
                <a:cs typeface="Times New Roman" panose="02020603050405020304" pitchFamily="18" charset="0"/>
              </a:rPr>
              <a:t> to analyze and visualize airline operational performance.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focuses on transforming large and complex flight datasets into </a:t>
            </a:r>
            <a:r>
              <a:rPr lang="en-US" b="1" dirty="0">
                <a:latin typeface="Times New Roman" panose="02020603050405020304" pitchFamily="18" charset="0"/>
                <a:cs typeface="Times New Roman" panose="02020603050405020304" pitchFamily="18" charset="0"/>
              </a:rPr>
              <a:t>interactive dashboards</a:t>
            </a:r>
            <a:r>
              <a:rPr lang="en-US" dirty="0">
                <a:latin typeface="Times New Roman" panose="02020603050405020304" pitchFamily="18" charset="0"/>
                <a:cs typeface="Times New Roman" panose="02020603050405020304" pitchFamily="18" charset="0"/>
              </a:rPr>
              <a:t> that provide clear and actionable </a:t>
            </a:r>
            <a:r>
              <a:rPr lang="en-US" dirty="0" smtClean="0">
                <a:latin typeface="Times New Roman" panose="02020603050405020304" pitchFamily="18" charset="0"/>
                <a:cs typeface="Times New Roman" panose="02020603050405020304" pitchFamily="18" charset="0"/>
              </a:rPr>
              <a:t>insights.</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Key </a:t>
            </a:r>
            <a:r>
              <a:rPr lang="en-US" dirty="0">
                <a:latin typeface="Times New Roman" panose="02020603050405020304" pitchFamily="18" charset="0"/>
                <a:cs typeface="Times New Roman" panose="02020603050405020304" pitchFamily="18" charset="0"/>
              </a:rPr>
              <a:t>performance indicators such as </a:t>
            </a:r>
            <a:r>
              <a:rPr lang="en-US" b="1" dirty="0">
                <a:latin typeface="Times New Roman" panose="02020603050405020304" pitchFamily="18" charset="0"/>
                <a:cs typeface="Times New Roman" panose="02020603050405020304" pitchFamily="18" charset="0"/>
              </a:rPr>
              <a:t>Total Flights, Total Passengers, Load Factor Percentage, and Total Available Seats</a:t>
            </a:r>
            <a:r>
              <a:rPr lang="en-US" dirty="0">
                <a:latin typeface="Times New Roman" panose="02020603050405020304" pitchFamily="18" charset="0"/>
                <a:cs typeface="Times New Roman" panose="02020603050405020304" pitchFamily="18" charset="0"/>
              </a:rPr>
              <a:t> are calculated and analyzed across </a:t>
            </a:r>
            <a:r>
              <a:rPr lang="en-US" b="1" dirty="0">
                <a:latin typeface="Times New Roman" panose="02020603050405020304" pitchFamily="18" charset="0"/>
                <a:cs typeface="Times New Roman" panose="02020603050405020304" pitchFamily="18" charset="0"/>
              </a:rPr>
              <a:t>financial quarters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helps in identifying seasonal trends, passenger demand patterns, and capacity utilization </a:t>
            </a:r>
            <a:r>
              <a:rPr lang="en-US" dirty="0" smtClean="0">
                <a:latin typeface="Times New Roman" panose="02020603050405020304" pitchFamily="18" charset="0"/>
                <a:cs typeface="Times New Roman" panose="02020603050405020304" pitchFamily="18" charset="0"/>
              </a:rPr>
              <a:t>efficiency.</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project emphasizes </a:t>
            </a:r>
            <a:r>
              <a:rPr lang="en-US" b="1" dirty="0">
                <a:latin typeface="Times New Roman" panose="02020603050405020304" pitchFamily="18" charset="0"/>
                <a:cs typeface="Times New Roman" panose="02020603050405020304" pitchFamily="18" charset="0"/>
              </a:rPr>
              <a:t>data modeling, relationship management, KPI creation, and time-based analysis</a:t>
            </a:r>
            <a:r>
              <a:rPr lang="en-US" dirty="0">
                <a:latin typeface="Times New Roman" panose="02020603050405020304" pitchFamily="18" charset="0"/>
                <a:cs typeface="Times New Roman" panose="02020603050405020304" pitchFamily="18" charset="0"/>
              </a:rPr>
              <a:t>, ensuring accuracy and consistency in </a:t>
            </a:r>
            <a:r>
              <a:rPr lang="en-US" dirty="0" smtClean="0">
                <a:latin typeface="Times New Roman" panose="02020603050405020304" pitchFamily="18" charset="0"/>
                <a:cs typeface="Times New Roman" panose="02020603050405020304" pitchFamily="18" charset="0"/>
              </a:rPr>
              <a:t>results.</a:t>
            </a:r>
          </a:p>
          <a:p>
            <a:pPr marL="285750" indent="-285750">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using effective visualizations and dashboard design principles, the project enables stakeholders to quickly understand airline performance and make </a:t>
            </a:r>
            <a:r>
              <a:rPr lang="en-US" b="1" dirty="0">
                <a:latin typeface="Times New Roman" panose="02020603050405020304" pitchFamily="18" charset="0"/>
                <a:cs typeface="Times New Roman" panose="02020603050405020304" pitchFamily="18" charset="0"/>
              </a:rPr>
              <a:t>data-driven business </a:t>
            </a:r>
            <a:r>
              <a:rPr lang="en-US" b="1" dirty="0" smtClean="0">
                <a:latin typeface="Times New Roman" panose="02020603050405020304" pitchFamily="18" charset="0"/>
                <a:cs typeface="Times New Roman" panose="02020603050405020304" pitchFamily="18" charset="0"/>
              </a:rPr>
              <a:t>decisions</a:t>
            </a:r>
            <a:r>
              <a:rPr lang="en-US" dirty="0" smtClean="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Overall</a:t>
            </a:r>
            <a:r>
              <a:rPr lang="en-US" b="1" dirty="0">
                <a:latin typeface="Times New Roman" panose="02020603050405020304" pitchFamily="18" charset="0"/>
                <a:cs typeface="Times New Roman" panose="02020603050405020304" pitchFamily="18" charset="0"/>
              </a:rPr>
              <a:t>, this project demonstrates how business intelligence tools can be used to convert raw data into valuable insights, supporting strategic planning and operational improvement in the airline industry.</a:t>
            </a:r>
          </a:p>
        </p:txBody>
      </p:sp>
    </p:spTree>
    <p:extLst>
      <p:ext uri="{BB962C8B-B14F-4D97-AF65-F5344CB8AC3E}">
        <p14:creationId xmlns:p14="http://schemas.microsoft.com/office/powerpoint/2010/main" val="494035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9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2200275" y="217587"/>
            <a:ext cx="7896225" cy="584775"/>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3200" b="1" dirty="0" smtClean="0">
                <a:latin typeface="Algerian" panose="04020705040A02060702" pitchFamily="82" charset="0"/>
              </a:rPr>
              <a:t>Conclusion</a:t>
            </a:r>
            <a:endParaRPr lang="en-IN" sz="3200" b="1" dirty="0">
              <a:latin typeface="Algerian" panose="04020705040A02060702" pitchFamily="82" charset="0"/>
            </a:endParaRPr>
          </a:p>
        </p:txBody>
      </p:sp>
      <p:sp>
        <p:nvSpPr>
          <p:cNvPr id="4" name="Rectangle 3"/>
          <p:cNvSpPr/>
          <p:nvPr/>
        </p:nvSpPr>
        <p:spPr>
          <a:xfrm>
            <a:off x="533399" y="1028343"/>
            <a:ext cx="11058525" cy="5547929"/>
          </a:xfrm>
          <a:prstGeom prst="rect">
            <a:avLst/>
          </a:prstGeom>
        </p:spPr>
        <p:txBody>
          <a:bodyPr wrap="square">
            <a:spAutoFit/>
          </a:bodyPr>
          <a:lstStyle/>
          <a:p>
            <a:pPr>
              <a:lnSpc>
                <a:spcPct val="20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High Cloud Airlines Project</a:t>
            </a:r>
            <a:r>
              <a:rPr lang="en-US" dirty="0">
                <a:latin typeface="Times New Roman" panose="02020603050405020304" pitchFamily="18" charset="0"/>
                <a:cs typeface="Times New Roman" panose="02020603050405020304" pitchFamily="18" charset="0"/>
              </a:rPr>
              <a:t> successfully demonstrates the use of </a:t>
            </a:r>
            <a:r>
              <a:rPr lang="en-US" b="1" dirty="0">
                <a:latin typeface="Times New Roman" panose="02020603050405020304" pitchFamily="18" charset="0"/>
                <a:cs typeface="Times New Roman" panose="02020603050405020304" pitchFamily="18" charset="0"/>
              </a:rPr>
              <a:t>Power BI</a:t>
            </a:r>
            <a:r>
              <a:rPr lang="en-US" dirty="0">
                <a:latin typeface="Times New Roman" panose="02020603050405020304" pitchFamily="18" charset="0"/>
                <a:cs typeface="Times New Roman" panose="02020603050405020304" pitchFamily="18" charset="0"/>
              </a:rPr>
              <a:t> to analyze and visualize complex airline operational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building an interactive dashboard with well-defined KPIs such as </a:t>
            </a:r>
            <a:r>
              <a:rPr lang="en-US" b="1" dirty="0">
                <a:latin typeface="Times New Roman" panose="02020603050405020304" pitchFamily="18" charset="0"/>
                <a:cs typeface="Times New Roman" panose="02020603050405020304" pitchFamily="18" charset="0"/>
              </a:rPr>
              <a:t>Total Flights, Total Passengers, Load Factor %, and Available Seats</a:t>
            </a:r>
            <a:r>
              <a:rPr lang="en-US" dirty="0">
                <a:latin typeface="Times New Roman" panose="02020603050405020304" pitchFamily="18" charset="0"/>
                <a:cs typeface="Times New Roman" panose="02020603050405020304" pitchFamily="18" charset="0"/>
              </a:rPr>
              <a:t>, the project provides a clear understanding of airline performance across </a:t>
            </a:r>
            <a:r>
              <a:rPr lang="en-US" b="1" dirty="0">
                <a:latin typeface="Times New Roman" panose="02020603050405020304" pitchFamily="18" charset="0"/>
                <a:cs typeface="Times New Roman" panose="02020603050405020304" pitchFamily="18" charset="0"/>
              </a:rPr>
              <a:t>financial quarters</a:t>
            </a:r>
            <a:r>
              <a:rPr lang="en-US" dirty="0">
                <a:latin typeface="Times New Roman" panose="02020603050405020304" pitchFamily="18" charset="0"/>
                <a:cs typeface="Times New Roman" panose="02020603050405020304" pitchFamily="18" charset="0"/>
              </a:rPr>
              <a:t>.</a:t>
            </a:r>
          </a:p>
          <a:p>
            <a:pPr>
              <a:lnSpc>
                <a:spcPct val="200000"/>
              </a:lnSpc>
            </a:pPr>
            <a:r>
              <a:rPr lang="en-US" dirty="0">
                <a:latin typeface="Times New Roman" panose="02020603050405020304" pitchFamily="18" charset="0"/>
                <a:cs typeface="Times New Roman" panose="02020603050405020304" pitchFamily="18" charset="0"/>
              </a:rPr>
              <a:t>The analysis helps identify passenger demand trends, capacity utilization efficiency, and operational patterns that are difficult to observe from raw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Through proper data modeling, calculated measures, and effective visualizations, the project supports </a:t>
            </a:r>
            <a:r>
              <a:rPr lang="en-US" b="1" dirty="0">
                <a:latin typeface="Times New Roman" panose="02020603050405020304" pitchFamily="18" charset="0"/>
                <a:cs typeface="Times New Roman" panose="02020603050405020304" pitchFamily="18" charset="0"/>
              </a:rPr>
              <a:t>data-driven decision making</a:t>
            </a:r>
            <a:r>
              <a:rPr lang="en-US" dirty="0">
                <a:latin typeface="Times New Roman" panose="02020603050405020304" pitchFamily="18" charset="0"/>
                <a:cs typeface="Times New Roman" panose="02020603050405020304" pitchFamily="18" charset="0"/>
              </a:rPr>
              <a:t> and improves business insight.</a:t>
            </a:r>
          </a:p>
          <a:p>
            <a:pPr>
              <a:lnSpc>
                <a:spcPct val="200000"/>
              </a:lnSpc>
            </a:pPr>
            <a:r>
              <a:rPr lang="en-US" dirty="0">
                <a:latin typeface="Times New Roman" panose="02020603050405020304" pitchFamily="18" charset="0"/>
                <a:cs typeface="Times New Roman" panose="02020603050405020304" pitchFamily="18" charset="0"/>
              </a:rPr>
              <a:t>Overall, this project highlights the importance of </a:t>
            </a:r>
            <a:r>
              <a:rPr lang="en-US" b="1" dirty="0">
                <a:latin typeface="Times New Roman" panose="02020603050405020304" pitchFamily="18" charset="0"/>
                <a:cs typeface="Times New Roman" panose="02020603050405020304" pitchFamily="18" charset="0"/>
              </a:rPr>
              <a:t>business intelligence tools</a:t>
            </a:r>
            <a:r>
              <a:rPr lang="en-US" dirty="0">
                <a:latin typeface="Times New Roman" panose="02020603050405020304" pitchFamily="18" charset="0"/>
                <a:cs typeface="Times New Roman" panose="02020603050405020304" pitchFamily="18" charset="0"/>
              </a:rPr>
              <a:t> in the aviation industry and showcases how data analytics can enhance strategic planning and operational efficiency.</a:t>
            </a:r>
          </a:p>
        </p:txBody>
      </p:sp>
    </p:spTree>
    <p:extLst>
      <p:ext uri="{BB962C8B-B14F-4D97-AF65-F5344CB8AC3E}">
        <p14:creationId xmlns:p14="http://schemas.microsoft.com/office/powerpoint/2010/main" val="14049475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5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8191" t="73334"/>
          <a:stretch/>
        </p:blipFill>
        <p:spPr>
          <a:xfrm>
            <a:off x="7267574" y="4305299"/>
            <a:ext cx="4924426" cy="952501"/>
          </a:xfrm>
          <a:prstGeom prst="rect">
            <a:avLst/>
          </a:prstGeom>
        </p:spPr>
      </p:pic>
      <p:sp>
        <p:nvSpPr>
          <p:cNvPr id="3" name="TextBox 2"/>
          <p:cNvSpPr txBox="1"/>
          <p:nvPr/>
        </p:nvSpPr>
        <p:spPr>
          <a:xfrm>
            <a:off x="171450" y="2730936"/>
            <a:ext cx="11858625" cy="1862048"/>
          </a:xfrm>
          <a:prstGeom prst="rect">
            <a:avLst/>
          </a:prstGeom>
          <a:solidFill>
            <a:schemeClr val="bg1">
              <a:alpha val="50000"/>
            </a:schemeClr>
          </a:solidFill>
          <a:ln>
            <a:solidFill>
              <a:schemeClr val="tx2"/>
            </a:solidFill>
          </a:ln>
          <a:scene3d>
            <a:camera prst="orthographicFront"/>
            <a:lightRig rig="threePt" dir="t"/>
          </a:scene3d>
          <a:sp3d>
            <a:bevelT/>
          </a:sp3d>
        </p:spPr>
        <p:txBody>
          <a:bodyPr wrap="square" rtlCol="0">
            <a:spAutoFit/>
          </a:bodyPr>
          <a:lstStyle/>
          <a:p>
            <a:pPr algn="ctr"/>
            <a:r>
              <a:rPr lang="en-US" sz="11500" b="1" dirty="0" smtClean="0">
                <a:latin typeface="Algerian" panose="04020705040A02060702" pitchFamily="82" charset="0"/>
              </a:rPr>
              <a:t>Thank you . . . . .</a:t>
            </a:r>
            <a:endParaRPr lang="en-IN" sz="11500" b="1" dirty="0">
              <a:latin typeface="Algerian" panose="04020705040A02060702" pitchFamily="82" charset="0"/>
            </a:endParaRPr>
          </a:p>
        </p:txBody>
      </p:sp>
    </p:spTree>
    <p:extLst>
      <p:ext uri="{BB962C8B-B14F-4D97-AF65-F5344CB8AC3E}">
        <p14:creationId xmlns:p14="http://schemas.microsoft.com/office/powerpoint/2010/main" val="31914672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483</Words>
  <Application>Microsoft Office PowerPoint</Application>
  <PresentationFormat>Widescreen</PresentationFormat>
  <Paragraphs>54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Algerian</vt:lpstr>
      <vt:lpstr>Arial</vt:lpstr>
      <vt:lpstr>Calibri</vt:lpstr>
      <vt:lpstr>Calibri Light</vt:lpstr>
      <vt:lpstr>Times New Roman</vt:lpstr>
      <vt:lpstr>Wingdings</vt:lpstr>
      <vt:lpstr>Office Theme</vt:lpstr>
      <vt:lpstr>WELCOME</vt:lpstr>
      <vt:lpstr>HIGH CLOUD  AIRLINES</vt:lpstr>
      <vt:lpstr>GROUP MEMBERS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CLOUD AIRLINES</dc:title>
  <dc:creator>NILESH</dc:creator>
  <cp:lastModifiedBy>NILESH</cp:lastModifiedBy>
  <cp:revision>18</cp:revision>
  <dcterms:created xsi:type="dcterms:W3CDTF">2026-02-01T14:21:42Z</dcterms:created>
  <dcterms:modified xsi:type="dcterms:W3CDTF">2026-02-02T03:33:04Z</dcterms:modified>
</cp:coreProperties>
</file>